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3" r:id="rId3"/>
    <p:sldId id="267" r:id="rId4"/>
    <p:sldId id="265" r:id="rId5"/>
    <p:sldId id="264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00CC99"/>
    <a:srgbClr val="000099"/>
    <a:srgbClr val="FF7C80"/>
    <a:srgbClr val="996633"/>
    <a:srgbClr val="00FFCC"/>
    <a:srgbClr val="FF66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3FEEA-7EF8-4B4F-B647-AD5DE229E75B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9EBBD-D052-4B1B-97A1-FED2D203A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50551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21C35-106D-45D2-98A3-D27A656E76DB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554F3-B0BD-42B2-A7DD-86BA5FCB81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83174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3962-4865-4228-81E3-00D3CFBC0BFA}" type="datetime1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8300" y="6445250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7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9816-9E0E-4378-B675-9EC54FD6E1EE}" type="datetime1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273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0435-5393-459B-B8D1-48E7839C38C5}" type="datetime1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54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6B79-AEBC-4F2D-871B-4F95F7AD7A80}" type="datetime1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64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545F7-ABF2-4D18-ACD2-7BD0A8EF4B83}" type="datetime1">
              <a:rPr lang="en-IN" smtClean="0"/>
              <a:t>30-10-2025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33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6FB-CD15-47C6-89EF-F7FE10D1EED8}" type="datetime1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89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808B-F1D3-4175-85AD-E8FCCDE72517}" type="datetime1">
              <a:rPr lang="en-IN" smtClean="0"/>
              <a:t>30-10-2025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76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C0D1-6746-44E2-8941-ACBF328B313B}" type="datetime1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092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EB3B-693B-49EE-AD0C-7C04F31CDB5B}" type="datetime1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72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663D-5144-4E9D-ACC1-AE116A0B35F1}" type="datetime1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193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2366-8802-4337-B04F-63ED80D84AF4}" type="datetime1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85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04D1D-AFCB-4734-808E-3BDFE7C445A8}" type="datetime1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38A635C9-4A98-4745-BD96-9D0E32025E6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7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4232" y="2966411"/>
            <a:ext cx="12192000" cy="707886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ko-KR" alt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2798011" y="5632528"/>
            <a:ext cx="65798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Symbiosis Institute of Technology, Nagpur Campus</a:t>
            </a:r>
            <a:endParaRPr lang="ko-KR" altLang="en-US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1133105" y="1565205"/>
            <a:ext cx="985356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Machine Learning Result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2914170" y="3837804"/>
            <a:ext cx="6390099" cy="1631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Arnav </a:t>
            </a:r>
            <a:r>
              <a:rPr lang="en-US" altLang="ko-KR" sz="2000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Padole</a:t>
            </a:r>
            <a:endParaRPr lang="en-US" altLang="ko-KR" sz="20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22070521110</a:t>
            </a: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Sem: VII</a:t>
            </a:r>
          </a:p>
          <a:p>
            <a:pPr algn="ctr"/>
            <a:r>
              <a:rPr lang="en-US" altLang="ko-KR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Under the guidance of </a:t>
            </a: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Dr. Piyush Chauhan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5B2E5E-F1FB-4B49-A15E-DFC13B08436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65E93E9-4624-4300-9736-8AD2206DEED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028FEAF-D49A-46B9-89E4-097BE7C6552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3D876396-B2E8-4260-95F0-7F807CEBB33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E54FF9D1-6089-4D74-8D8E-6D1177695082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588BD84-AC78-42E3-8E80-878DF5182085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ED1FACAF-51FC-4BC7-B86A-37A0AE818A3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A1F696F5-C936-4257-ABAE-CFB663A4F5B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2E7360DC-5C0F-466D-84A8-E0EE6E3AB0F1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08DE8446-7C37-470B-9371-440B4896B7BB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9F2E292-A6A3-445D-9144-E683946C0A17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E1355B59-DD0D-4CAB-945D-A12DD9E80FE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791E57E2-15BD-41FF-A3AD-FEF3ACD07BAD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ACC6ABAB-5C29-44A4-B49A-A3C7C7F7BCBE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A71DD83-8022-4143-A93D-17DDAFFAB86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01418661-1F77-4FAD-B4FD-28B2B041E7F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05CCC8A-C19B-40FE-BEEF-912A84A1EF9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95FBCACE-24A6-48D1-B13B-8F9FE1203886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12CB76F8-C735-44B5-9A98-9F2B9379252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555127DA-3EE1-42DE-BA8E-69E101C286E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2C10520-9F80-4BE2-B993-5B905B809DE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EDB92882-0CF1-413E-8743-7A1E01EF2B8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0932F542-36CC-4138-A432-576700346F8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B6B041A-5F1A-40C1-9584-D5563AB6A193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3C697974-1EFD-497C-8F1B-DEAA82EB7A7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C5C2CAB8-8604-4E04-9F23-99A720B6CD6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78959DD7-B4AB-4F69-BB5B-9840CF94E3CA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7EB0FDD-9AD7-4386-8559-CE3745BCEC8C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EABA9570-C479-4F46-AD41-88F10E265791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696970B8-F5CB-412E-8251-9AF0578354D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3D00D20E-2B63-4792-A233-43481FD84B2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873ECCA-6F31-4A69-856A-82645EA1C11F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821AFFC-1334-4BF1-A96A-FBE5CE0E32B4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DFA386D3-FCFC-4630-B8F1-3144BCEA5BF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53EF3BC0-98DA-4218-B9E8-F47FA1C11F3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67645674-65CD-4C60-AE13-2D7A5DFAF5C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91FC57F3-C93D-4A02-AA2A-37F81573623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65E93E9-4624-4300-9736-8AD2206DEEDC}"/>
              </a:ext>
            </a:extLst>
          </p:cNvPr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96" name="Freeform: Shape 4">
              <a:extLst>
                <a:ext uri="{FF2B5EF4-FFF2-40B4-BE49-F238E27FC236}">
                  <a16:creationId xmlns:a16="http://schemas.microsoft.com/office/drawing/2014/main" id="{C028FEAF-D49A-46B9-89E4-097BE7C65526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7" name="Freeform: Shape 5">
              <a:extLst>
                <a:ext uri="{FF2B5EF4-FFF2-40B4-BE49-F238E27FC236}">
                  <a16:creationId xmlns:a16="http://schemas.microsoft.com/office/drawing/2014/main" id="{3D876396-B2E8-4260-95F0-7F807CEBB33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8" name="Freeform: Shape 6">
              <a:extLst>
                <a:ext uri="{FF2B5EF4-FFF2-40B4-BE49-F238E27FC236}">
                  <a16:creationId xmlns:a16="http://schemas.microsoft.com/office/drawing/2014/main" id="{E54FF9D1-6089-4D74-8D8E-6D1177695082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9" name="Freeform: Shape 7">
              <a:extLst>
                <a:ext uri="{FF2B5EF4-FFF2-40B4-BE49-F238E27FC236}">
                  <a16:creationId xmlns:a16="http://schemas.microsoft.com/office/drawing/2014/main" id="{C588BD84-AC78-42E3-8E80-878DF518208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0" name="Freeform: Shape 8">
              <a:extLst>
                <a:ext uri="{FF2B5EF4-FFF2-40B4-BE49-F238E27FC236}">
                  <a16:creationId xmlns:a16="http://schemas.microsoft.com/office/drawing/2014/main" id="{ED1FACAF-51FC-4BC7-B86A-37A0AE818A3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1" name="Freeform: Shape 9">
              <a:extLst>
                <a:ext uri="{FF2B5EF4-FFF2-40B4-BE49-F238E27FC236}">
                  <a16:creationId xmlns:a16="http://schemas.microsoft.com/office/drawing/2014/main" id="{A1F696F5-C936-4257-ABAE-CFB663A4F5B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2" name="Freeform: Shape 10">
              <a:extLst>
                <a:ext uri="{FF2B5EF4-FFF2-40B4-BE49-F238E27FC236}">
                  <a16:creationId xmlns:a16="http://schemas.microsoft.com/office/drawing/2014/main" id="{2E7360DC-5C0F-466D-84A8-E0EE6E3AB0F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3" name="Freeform: Shape 11">
              <a:extLst>
                <a:ext uri="{FF2B5EF4-FFF2-40B4-BE49-F238E27FC236}">
                  <a16:creationId xmlns:a16="http://schemas.microsoft.com/office/drawing/2014/main" id="{08DE8446-7C37-470B-9371-440B4896B7B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" name="Freeform: Shape 12">
              <a:extLst>
                <a:ext uri="{FF2B5EF4-FFF2-40B4-BE49-F238E27FC236}">
                  <a16:creationId xmlns:a16="http://schemas.microsoft.com/office/drawing/2014/main" id="{79F2E292-A6A3-445D-9144-E683946C0A1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" name="Freeform: Shape 13">
              <a:extLst>
                <a:ext uri="{FF2B5EF4-FFF2-40B4-BE49-F238E27FC236}">
                  <a16:creationId xmlns:a16="http://schemas.microsoft.com/office/drawing/2014/main" id="{E1355B59-DD0D-4CAB-945D-A12DD9E80FE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6" name="Freeform: Shape 14">
              <a:extLst>
                <a:ext uri="{FF2B5EF4-FFF2-40B4-BE49-F238E27FC236}">
                  <a16:creationId xmlns:a16="http://schemas.microsoft.com/office/drawing/2014/main" id="{791E57E2-15BD-41FF-A3AD-FEF3ACD07BA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7" name="Freeform: Shape 15">
              <a:extLst>
                <a:ext uri="{FF2B5EF4-FFF2-40B4-BE49-F238E27FC236}">
                  <a16:creationId xmlns:a16="http://schemas.microsoft.com/office/drawing/2014/main" id="{ACC6ABAB-5C29-44A4-B49A-A3C7C7F7BCB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8" name="Freeform: Shape 16">
              <a:extLst>
                <a:ext uri="{FF2B5EF4-FFF2-40B4-BE49-F238E27FC236}">
                  <a16:creationId xmlns:a16="http://schemas.microsoft.com/office/drawing/2014/main" id="{4A71DD83-8022-4143-A93D-17DDAFFAB86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9" name="Freeform: Shape 17">
              <a:extLst>
                <a:ext uri="{FF2B5EF4-FFF2-40B4-BE49-F238E27FC236}">
                  <a16:creationId xmlns:a16="http://schemas.microsoft.com/office/drawing/2014/main" id="{01418661-1F77-4FAD-B4FD-28B2B041E7F8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0" name="Freeform: Shape 18">
              <a:extLst>
                <a:ext uri="{FF2B5EF4-FFF2-40B4-BE49-F238E27FC236}">
                  <a16:creationId xmlns:a16="http://schemas.microsoft.com/office/drawing/2014/main" id="{D05CCC8A-C19B-40FE-BEEF-912A84A1EF9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1" name="Freeform: Shape 19">
              <a:extLst>
                <a:ext uri="{FF2B5EF4-FFF2-40B4-BE49-F238E27FC236}">
                  <a16:creationId xmlns:a16="http://schemas.microsoft.com/office/drawing/2014/main" id="{95FBCACE-24A6-48D1-B13B-8F9FE120388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Freeform: Shape 20">
              <a:extLst>
                <a:ext uri="{FF2B5EF4-FFF2-40B4-BE49-F238E27FC236}">
                  <a16:creationId xmlns:a16="http://schemas.microsoft.com/office/drawing/2014/main" id="{12CB76F8-C735-44B5-9A98-9F2B9379252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Freeform: Shape 21">
              <a:extLst>
                <a:ext uri="{FF2B5EF4-FFF2-40B4-BE49-F238E27FC236}">
                  <a16:creationId xmlns:a16="http://schemas.microsoft.com/office/drawing/2014/main" id="{555127DA-3EE1-42DE-BA8E-69E101C286E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4" name="Freeform: Shape 22">
              <a:extLst>
                <a:ext uri="{FF2B5EF4-FFF2-40B4-BE49-F238E27FC236}">
                  <a16:creationId xmlns:a16="http://schemas.microsoft.com/office/drawing/2014/main" id="{C2C10520-9F80-4BE2-B993-5B905B809DE6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5" name="Freeform: Shape 23">
              <a:extLst>
                <a:ext uri="{FF2B5EF4-FFF2-40B4-BE49-F238E27FC236}">
                  <a16:creationId xmlns:a16="http://schemas.microsoft.com/office/drawing/2014/main" id="{EDB92882-0CF1-413E-8743-7A1E01EF2B8A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6" name="Freeform: Shape 24">
              <a:extLst>
                <a:ext uri="{FF2B5EF4-FFF2-40B4-BE49-F238E27FC236}">
                  <a16:creationId xmlns:a16="http://schemas.microsoft.com/office/drawing/2014/main" id="{0932F542-36CC-4138-A432-576700346F8C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7" name="Freeform: Shape 25">
              <a:extLst>
                <a:ext uri="{FF2B5EF4-FFF2-40B4-BE49-F238E27FC236}">
                  <a16:creationId xmlns:a16="http://schemas.microsoft.com/office/drawing/2014/main" id="{3B6B041A-5F1A-40C1-9584-D5563AB6A19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8" name="Freeform: Shape 26">
              <a:extLst>
                <a:ext uri="{FF2B5EF4-FFF2-40B4-BE49-F238E27FC236}">
                  <a16:creationId xmlns:a16="http://schemas.microsoft.com/office/drawing/2014/main" id="{3C697974-1EFD-497C-8F1B-DEAA82EB7A7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9" name="Freeform: Shape 27">
              <a:extLst>
                <a:ext uri="{FF2B5EF4-FFF2-40B4-BE49-F238E27FC236}">
                  <a16:creationId xmlns:a16="http://schemas.microsoft.com/office/drawing/2014/main" id="{C5C2CAB8-8604-4E04-9F23-99A720B6CD6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0" name="Freeform: Shape 28">
              <a:extLst>
                <a:ext uri="{FF2B5EF4-FFF2-40B4-BE49-F238E27FC236}">
                  <a16:creationId xmlns:a16="http://schemas.microsoft.com/office/drawing/2014/main" id="{78959DD7-B4AB-4F69-BB5B-9840CF94E3C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1" name="Freeform: Shape 29">
              <a:extLst>
                <a:ext uri="{FF2B5EF4-FFF2-40B4-BE49-F238E27FC236}">
                  <a16:creationId xmlns:a16="http://schemas.microsoft.com/office/drawing/2014/main" id="{A7EB0FDD-9AD7-4386-8559-CE3745BCEC8C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2" name="Freeform: Shape 30">
              <a:extLst>
                <a:ext uri="{FF2B5EF4-FFF2-40B4-BE49-F238E27FC236}">
                  <a16:creationId xmlns:a16="http://schemas.microsoft.com/office/drawing/2014/main" id="{EABA9570-C479-4F46-AD41-88F10E265791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3" name="Freeform: Shape 31">
              <a:extLst>
                <a:ext uri="{FF2B5EF4-FFF2-40B4-BE49-F238E27FC236}">
                  <a16:creationId xmlns:a16="http://schemas.microsoft.com/office/drawing/2014/main" id="{696970B8-F5CB-412E-8251-9AF0578354D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4" name="Freeform: Shape 32">
              <a:extLst>
                <a:ext uri="{FF2B5EF4-FFF2-40B4-BE49-F238E27FC236}">
                  <a16:creationId xmlns:a16="http://schemas.microsoft.com/office/drawing/2014/main" id="{3D00D20E-2B63-4792-A233-43481FD84B2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5" name="Freeform: Shape 33">
              <a:extLst>
                <a:ext uri="{FF2B5EF4-FFF2-40B4-BE49-F238E27FC236}">
                  <a16:creationId xmlns:a16="http://schemas.microsoft.com/office/drawing/2014/main" id="{7873ECCA-6F31-4A69-856A-82645EA1C11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6" name="Freeform: Shape 34">
              <a:extLst>
                <a:ext uri="{FF2B5EF4-FFF2-40B4-BE49-F238E27FC236}">
                  <a16:creationId xmlns:a16="http://schemas.microsoft.com/office/drawing/2014/main" id="{2821AFFC-1334-4BF1-A96A-FBE5CE0E32B4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7" name="Freeform: Shape 35">
              <a:extLst>
                <a:ext uri="{FF2B5EF4-FFF2-40B4-BE49-F238E27FC236}">
                  <a16:creationId xmlns:a16="http://schemas.microsoft.com/office/drawing/2014/main" id="{DFA386D3-FCFC-4630-B8F1-3144BCEA5BF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: Shape 36">
              <a:extLst>
                <a:ext uri="{FF2B5EF4-FFF2-40B4-BE49-F238E27FC236}">
                  <a16:creationId xmlns:a16="http://schemas.microsoft.com/office/drawing/2014/main" id="{53EF3BC0-98DA-4218-B9E8-F47FA1C11F36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9" name="Freeform: Shape 37">
              <a:extLst>
                <a:ext uri="{FF2B5EF4-FFF2-40B4-BE49-F238E27FC236}">
                  <a16:creationId xmlns:a16="http://schemas.microsoft.com/office/drawing/2014/main" id="{67645674-65CD-4C60-AE13-2D7A5DFAF5C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: Shape 38">
              <a:extLst>
                <a:ext uri="{FF2B5EF4-FFF2-40B4-BE49-F238E27FC236}">
                  <a16:creationId xmlns:a16="http://schemas.microsoft.com/office/drawing/2014/main" id="{91FC57F3-C93D-4A02-AA2A-37F815736233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21" y="190223"/>
            <a:ext cx="6879350" cy="999746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3" name="Rectangle 2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</a:t>
            </a:fld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31A776-4D62-7FDD-1EB9-B9514AFC8A06}"/>
              </a:ext>
            </a:extLst>
          </p:cNvPr>
          <p:cNvSpPr txBox="1"/>
          <p:nvPr/>
        </p:nvSpPr>
        <p:spPr>
          <a:xfrm>
            <a:off x="589827" y="2952466"/>
            <a:ext cx="111470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Trade Flow Dynamics in Oceania (2015–2025)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47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00E8E-DF8F-79B7-DAD8-18E38B47E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52D1BD0B-1326-2105-4462-E8320F60F422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193B393-EF80-76C8-8441-4157A6952C6D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CBA254E-966D-AAC7-B6E8-877E540AB5F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8729FF22-965A-B699-7AB7-D84C8ADA3BDF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A168589F-F7BC-786B-4F6F-0282C976EE9B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80CD6F9F-8EBA-9C89-57A9-4CA30EED9476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A9BC9004-BC28-3118-D055-F238C03D99F1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D2994D5E-301E-DEC7-C684-9A7ABA94011C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33E97030-5585-677C-431B-6BC30CCDE5BD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F9E44527-68E2-397A-32AE-FC202DC5977D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03FF3A5E-CCF7-0F89-8BD4-C3C4DCE29DC4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4E762B05-CBBF-4543-644F-96AF89C6E132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00EEF300-DBB1-BAA7-DA1D-9CFF04B6AA28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1435B56C-294B-0229-D5DB-DBE1B41BB800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9F71E46F-9E3C-1FC4-7A56-B12261AEAE3F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34655F4D-DBCC-0427-CC40-8233C6677745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4DF468D3-DB90-810D-D758-465206EF022C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B62A8817-EDB4-EAAC-6FE6-950FD7CDCF36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D56AD068-F282-ABBF-219F-708D2E08FCA7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16A8FFDE-16E4-F398-1AB1-EEFA320FB2DB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D44D29AE-1230-28F8-CFF3-F73F8B553849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F396DC2F-E17C-9564-01AF-9ED69991D77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B36E2228-A0AE-B871-1C9A-5795596509D6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50D6ECAC-F366-3F9A-59B4-66586EDBB606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83108ECC-CA09-4D24-1F0D-1A08AB2A8340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E8DD8E8F-B608-F033-1809-310A09C51EA2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74C5A4AD-E872-D746-E14E-DB9054847C15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2002DAF1-C793-00D3-EDE4-403A57BB6F57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F9E3D354-0A0D-448B-3325-5891210A5C0A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8F64E52E-F2B0-FF21-FE5A-6E679A57A328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7B4BE7B4-4F21-3CB8-96D2-18B482C03922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7E7537AE-213F-2D79-0F07-85615ABF4FE3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27C6C8A5-70DE-45C9-4471-8FE3DDFA9D2C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8602DF3A-E653-9A0D-F23F-B4481CB2676B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EDB0835F-2714-29AF-7245-62F55EF60740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1A63D976-7A8F-D166-D5E1-FCDFF03D4D4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783BD953-04D0-504D-5909-0AA267BFB984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7631FC0E-D82D-0040-C566-1081BF74C104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1FC8CFF-E23F-AE79-0372-4BC4401F0D8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FF5E3964-D22A-9280-8866-19E944D5C0B9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427F445F-83C4-FF70-58C5-5D9F56D64AF9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0B5245B1-5A91-2B46-9065-41F5DDAE1E2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D045D738-9E03-B5AC-6B1D-E4E53E85121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717ED8A6-8765-FBA1-3DD9-8386E1D15B98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C4D23836-3EC3-C40E-BFF9-2F0994200D66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DA16E540-DEF2-16DD-3990-FDD99B7EC7B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E5B9F086-6E82-F70C-30C0-D1C1E1479224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F594DD30-0EEA-58CC-10D3-04DCE908A46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3DBF25AA-F478-27AE-49C3-2379793033EF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0E69FDEE-0FE4-F364-517E-70FB6EA9FBD1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2D1C96FB-0F22-518B-9264-AA1AF96403D0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3E79ADA4-373C-F35B-0AC2-56AEF79FB64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62AE8867-1C2A-5EC6-A693-FDC5D257C4EE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AB07C42C-C080-E44A-BBED-7C404A7AD631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F540766E-00B2-2309-E139-888DAACB3E95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F6CE07A6-B2AD-1B4F-473E-12F2D0954F3E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2A51672E-C5A4-9687-69B3-A8DE589A0D9F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CD1C326B-E975-479E-3958-EE85E5A420AA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64328987-FA68-8B99-BC0D-967D2E893FA1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DF0E15C7-6919-31A4-1057-60DC482F2F00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0C03FD6F-07B9-9F9D-241B-68B55A505D1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01D6BF7C-3B79-12C9-7D85-CF36237CBF7A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8FDD77F2-CED0-80FC-CB50-8238A350ADD8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47CE31F2-420B-4AEE-0A85-293CDB0ADF6C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C7CA6AF0-4AAC-884F-65C3-EF4A654D86E7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E0BE1CDC-6F6F-E9BD-CDC5-4799A2398B68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009E7F5B-9FA0-57EB-81DC-82B660C2A23E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5F13C22D-76D8-348C-58CC-88AD421A5DF9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B289EB7E-0A4A-CF8B-B515-85FCCDDC5810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4736FBBC-76A0-EE59-838A-5EA9BC847208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A0006061-BE84-FE3F-AFDA-BE90FF249412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F28436EA-9DEA-F381-E66D-D9079816057B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6F4B571A-35D2-FD69-56CA-AA4152817CB6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CFA5D4D8-81FD-AF3A-8005-5548B091C4DE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ECF597E-986C-2067-BB84-BB5194EE4BF6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600" dirty="0"/>
              <a:t>Data Quality and Preparation Summary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07BE8DA9-895C-3113-CAA9-3B0859123C40}"/>
              </a:ext>
            </a:extLst>
          </p:cNvPr>
          <p:cNvSpPr txBox="1"/>
          <p:nvPr/>
        </p:nvSpPr>
        <p:spPr>
          <a:xfrm>
            <a:off x="4815838" y="958648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43772D20-8FEB-C490-31AF-77E48BDC640B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8FA933D3-5441-CD0A-89AE-087C7C3A12BC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83FF762D-1B0D-CE7F-35BD-C8B48010F586}"/>
              </a:ext>
            </a:extLst>
          </p:cNvPr>
          <p:cNvSpPr/>
          <p:nvPr/>
        </p:nvSpPr>
        <p:spPr>
          <a:xfrm>
            <a:off x="6318076" y="9901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0EA4E7CA-D20A-3D2A-6804-051CEFEFCD6D}"/>
              </a:ext>
            </a:extLst>
          </p:cNvPr>
          <p:cNvSpPr/>
          <p:nvPr/>
        </p:nvSpPr>
        <p:spPr>
          <a:xfrm>
            <a:off x="7788323" y="37589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D0DF7608-7243-DF7A-A500-8822B21696CC}"/>
              </a:ext>
            </a:extLst>
          </p:cNvPr>
          <p:cNvSpPr/>
          <p:nvPr/>
        </p:nvSpPr>
        <p:spPr>
          <a:xfrm>
            <a:off x="1960267" y="4958610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65DD3AB2-B5D1-E4AC-277B-F0BD521D3399}"/>
              </a:ext>
            </a:extLst>
          </p:cNvPr>
          <p:cNvSpPr/>
          <p:nvPr/>
        </p:nvSpPr>
        <p:spPr>
          <a:xfrm>
            <a:off x="832619" y="2041403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58A2AFBE-2265-30B8-D95F-AD58B29AF9C1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44D67782-B734-846B-B16E-A37F3AD10C2B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3D014E75-9B20-72F2-BFA2-CFB8640B1A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D6A62DFC-D483-ECC5-5EF9-DC3968770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82A8D28D-C3FE-CC47-CC7F-3832F1FF7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82ECDBAC-57DA-1661-D0DC-7782F55E4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E338B511-DC8B-08AA-1F40-74EFB4247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D9F081C0-D381-5A26-15B9-2C5499301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DE03DB2C-C622-892C-5B3C-CD7C222BC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>
            <a:extLst>
              <a:ext uri="{FF2B5EF4-FFF2-40B4-BE49-F238E27FC236}">
                <a16:creationId xmlns:a16="http://schemas.microsoft.com/office/drawing/2014/main" id="{4C78C7BA-711A-C7A5-F918-D02719072D80}"/>
              </a:ext>
            </a:extLst>
          </p:cNvPr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90B7A-C72E-B3BB-BD85-C42FAA31DA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75694-B155-271F-913B-58FEA7D5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2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37171-693C-F233-CF04-77DCE77BA0B2}"/>
              </a:ext>
            </a:extLst>
          </p:cNvPr>
          <p:cNvSpPr txBox="1"/>
          <p:nvPr/>
        </p:nvSpPr>
        <p:spPr>
          <a:xfrm>
            <a:off x="416418" y="958648"/>
            <a:ext cx="11489443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The analysis was conducted on a </a:t>
            </a:r>
            <a:r>
              <a:rPr lang="en-US" sz="2400" b="1" dirty="0"/>
              <a:t>cleaned dataset of 91,553 trade records</a:t>
            </a:r>
            <a:r>
              <a:rPr lang="en-US" sz="2400" dirty="0"/>
              <a:t> from the Oceania region, covering a </a:t>
            </a:r>
            <a:r>
              <a:rPr lang="en-US" sz="2400" b="1" dirty="0"/>
              <a:t>ten-year period (Jan 2015–Mar 2025)</a:t>
            </a:r>
            <a:r>
              <a:rPr lang="en-US" sz="2400" dirty="0"/>
              <a:t>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The dataset contained minimal data quality issues — only </a:t>
            </a:r>
            <a:r>
              <a:rPr lang="en-US" sz="2400" b="1" dirty="0"/>
              <a:t>one missing entry</a:t>
            </a:r>
            <a:r>
              <a:rPr lang="en-US" sz="2400" dirty="0"/>
              <a:t> in the “unit” column, which was handled during preprocessing.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All essential variables including </a:t>
            </a:r>
            <a:r>
              <a:rPr lang="en-US" sz="2400" b="1" dirty="0"/>
              <a:t>transaction date</a:t>
            </a:r>
            <a:r>
              <a:rPr lang="en-US" sz="2400" dirty="0"/>
              <a:t>, </a:t>
            </a:r>
            <a:r>
              <a:rPr lang="en-US" sz="2400" b="1" dirty="0"/>
              <a:t>country name</a:t>
            </a:r>
            <a:r>
              <a:rPr lang="en-US" sz="2400" dirty="0"/>
              <a:t>, and </a:t>
            </a:r>
            <a:r>
              <a:rPr lang="en-US" sz="2400" b="1" dirty="0"/>
              <a:t>monetary values</a:t>
            </a:r>
            <a:r>
              <a:rPr lang="en-US" sz="2400" dirty="0"/>
              <a:t> (USD &amp; Rupees) were verified and ready for analysis.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Data preprocessing steps included:</a:t>
            </a:r>
          </a:p>
          <a:p>
            <a:r>
              <a:rPr lang="en-US" sz="2400" dirty="0"/>
              <a:t>Handling missing values</a:t>
            </a:r>
          </a:p>
          <a:p>
            <a:r>
              <a:rPr lang="en-US" sz="2400" dirty="0"/>
              <a:t>Ensuring correct data types (date, numeric)</a:t>
            </a:r>
          </a:p>
          <a:p>
            <a:r>
              <a:rPr lang="en-US" sz="2400" dirty="0"/>
              <a:t>Standardizing currency values</a:t>
            </a:r>
          </a:p>
          <a:p>
            <a:r>
              <a:rPr lang="en-US" sz="2400" dirty="0"/>
              <a:t>Removing duplicates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22534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42CDE-BBD9-ABBD-9E46-8239C1C22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8906220E-D615-2D75-DCF5-5084E534C2CD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751813C-8DE5-B7D4-755C-EB2CF752ED04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F4CF99D-2AEE-EBF6-BF66-DE113A60305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28E02EA-9E78-E1C6-FECC-69109CFD242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2F767ED0-091C-0F91-DAC8-D23A50F16F77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C7D64DAB-7C61-F1EB-F18C-4135C0D0FF04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B20F53D8-7FDF-1396-FDCD-315AD71B7564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A307333C-DEE5-A721-C053-0A7252ACC892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511F2D77-F558-94CA-3772-80DDB51CFC05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DE64B521-EF73-3CFD-FB0C-004EE8EA29E1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687CA8EC-BF7D-0AEC-34AF-4524AA455963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54E53276-B11E-BF1F-F241-3EBC0752FAD1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2C745966-2D6B-5B95-9B54-E9878513B4F8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0142B19C-2CC4-8872-93F0-51D29480A10B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88F52CEB-467D-F363-DFD2-F60DCF76D427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85314502-7872-178C-615A-3D37C9086FA2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51F7C114-6738-2D7B-6667-FD19504C166F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990F27AF-43CB-DD43-2547-FE8857144558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7B61FFB6-09FF-3511-B1DD-F683BF8FAC02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504666B7-0853-4E83-7672-979F9772BA2D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008EF083-0A00-C8D2-5D78-73FDE7754F58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1DE065A8-6B52-AF7F-B38A-28AE7DC6E920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53F3B593-05E9-F98D-11FA-C59AE365AA6E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4F80D124-13F2-222B-D38B-38CA0DBF4DDB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9EDD24D2-0C8D-EE1F-4D25-2B66C4DB7E41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A1A64153-3F2C-56D6-4DA6-3845CAC5C259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65323412-9C09-B6EE-9F11-3BF022ACB93A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518E9B93-BC29-6246-841C-35430C961D57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FF1F6EA9-BAF3-33F7-BC82-5F1BCE2143D0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8A1CF1E4-097C-9F0E-B7FB-9E0EB1C129DC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EFF999D7-AB4D-5D7B-6167-8E685A3A4BB3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98DAA859-0283-2BB8-E1D1-68F7D026D7AD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3981D46F-CF58-2B81-F57C-81549277C42C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34F495A4-4EAF-E481-E88D-9275AE92D73A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A75B8B5E-A5CF-9F75-CD10-DDF69164F2D9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023BDC57-3855-82B2-CCBE-793C50D03E20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C2CC9204-EB07-28CC-350B-245A55FFF62E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5A0A3D69-F6EB-AECC-4725-F6B283B262DB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E26F03C-E83B-4B07-5C4F-77B711B3179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88E1B96F-5F3C-D173-9C45-834D69D9E388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E190C28C-3BE0-D4DF-43FB-A190D62B5165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A84D1E90-47E5-4AF7-6C20-35007B6D2BB0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9A5D4BCE-7693-9F6F-4378-020C5DBB1264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5E15ADCB-8ACD-D493-F523-E0C10489000D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EB3A77CA-DB97-2E67-521D-886955A3867A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8BB7AA17-E7CF-4756-70AB-082B671CB5E9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FE6514DF-8A8F-C8AB-4CF4-B451A7D6ADAD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396FD620-0A7E-6596-C2B1-DE620D0E7292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00A46B29-7207-61B0-EB9C-0DFD29BA7C22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49B53CA6-7865-3D59-F5D8-ADAFE072D901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7B59CFEB-42D0-7CCC-D9F5-D3ACF1A53EA2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4E0A6CC6-B9B9-9A5A-FED0-81ECB8F00882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8578B283-F4EF-13FC-2C19-7921DFA2AC20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612DE01E-0281-FDE3-D732-E61AD3FE481C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86ACD7B6-8034-F43B-56D0-535EE0E351B8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20CD2DBF-B1FB-FBF9-7688-7B8E7C112109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903E833D-4E50-FBE5-7E03-9141AA6F4519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DA6D1EE3-8BFC-0A25-1CF8-F08C76D82854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4B689C8A-BDF6-2A7B-A4A2-EA98BC90BECF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8447999F-0603-B991-1894-EDD559502F01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6CAF9538-7049-159B-4126-22015FD88397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B3121B38-33B4-5FC5-9ED6-8F71729598F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6A1DAC88-BC4B-6C85-A3A9-1A0FEF9CC991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673AC088-2E01-52A0-4E17-89F45069B082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6A274B50-7D52-A281-9280-E553DB047082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23FEF56C-6766-25D6-E37D-7888DD8132E8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D47D7CDC-D9D1-D411-BF2B-1353D1C7D9A4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78558620-EFD6-60E0-ED0D-6A3CCF17F1F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0C0F35BE-B767-9975-528C-EF160035B0B5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46DA859F-946C-301C-E3B9-F8156DCC5F94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14D48260-9F39-10DA-C47A-4B239CCE1EA5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3AD2E4DC-C17A-119F-0FAE-4327DDE9B12F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05B88ADD-4A9F-3F5C-2A52-998116C4D6AC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E6AE9991-6AEE-D94B-AB37-1B01C13C7750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5EF70FE-FA7D-E3C7-EE1C-B0A2C7123D2B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600" dirty="0"/>
              <a:t>Result 1: Geographic Concentration of Trade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C0162BDB-0471-1AAE-0BBC-DF2F8BDC1E07}"/>
              </a:ext>
            </a:extLst>
          </p:cNvPr>
          <p:cNvSpPr txBox="1"/>
          <p:nvPr/>
        </p:nvSpPr>
        <p:spPr>
          <a:xfrm>
            <a:off x="4815838" y="958648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4C16FF83-876A-31E7-2F90-65779C88DEE8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F4C04DAC-366E-2728-76EC-17807AE86C20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6D841918-F4F8-1FB9-B156-7C08418031D2}"/>
              </a:ext>
            </a:extLst>
          </p:cNvPr>
          <p:cNvSpPr/>
          <p:nvPr/>
        </p:nvSpPr>
        <p:spPr>
          <a:xfrm>
            <a:off x="6318076" y="9901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A208D25F-4580-BC78-EE67-799E09162808}"/>
              </a:ext>
            </a:extLst>
          </p:cNvPr>
          <p:cNvSpPr/>
          <p:nvPr/>
        </p:nvSpPr>
        <p:spPr>
          <a:xfrm>
            <a:off x="7788323" y="37589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BFE033D1-E38A-BB8A-69EF-036301D05818}"/>
              </a:ext>
            </a:extLst>
          </p:cNvPr>
          <p:cNvSpPr/>
          <p:nvPr/>
        </p:nvSpPr>
        <p:spPr>
          <a:xfrm>
            <a:off x="1960267" y="4958610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6938489D-0462-1671-8F4E-FB52F16AC2AD}"/>
              </a:ext>
            </a:extLst>
          </p:cNvPr>
          <p:cNvSpPr/>
          <p:nvPr/>
        </p:nvSpPr>
        <p:spPr>
          <a:xfrm>
            <a:off x="832619" y="2041403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BDBCE88D-6EE0-1A1F-383D-6624A20A3AB4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9CF7AFAD-DE88-DDAF-94A4-D91C2134FF7E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6F66396F-FD17-5688-3920-51B20C0D217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540B2534-4242-E389-A9D8-FCC737091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61F0AD56-C45D-B3AF-D729-0D4B433A3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36A3ACCB-A16C-7B58-BCAF-DDE339F26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25875277-6DA5-6D19-9F0F-64233F51D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01345911-E994-79C2-FE6A-0D5CC628B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7C50BF56-6FCC-6473-AE38-B0B8A117D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>
            <a:extLst>
              <a:ext uri="{FF2B5EF4-FFF2-40B4-BE49-F238E27FC236}">
                <a16:creationId xmlns:a16="http://schemas.microsoft.com/office/drawing/2014/main" id="{D41B14FB-A426-9E42-2882-C6989FA7A98B}"/>
              </a:ext>
            </a:extLst>
          </p:cNvPr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51910-0128-454F-A3F5-CEF0B988DE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84AA1-2A50-3DE7-6859-70573D5AA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3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FDDF81-F95C-C4F8-63A3-81124DC29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732" y="698242"/>
            <a:ext cx="7041639" cy="36802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5CFD09-151F-0F74-0237-A09D96CBC179}"/>
              </a:ext>
            </a:extLst>
          </p:cNvPr>
          <p:cNvSpPr txBox="1"/>
          <p:nvPr/>
        </p:nvSpPr>
        <p:spPr>
          <a:xfrm>
            <a:off x="701089" y="4711586"/>
            <a:ext cx="11214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Australia emerged as the </a:t>
            </a:r>
            <a:r>
              <a:rPr lang="en-US" b="1" dirty="0"/>
              <a:t>dominant trade hub</a:t>
            </a:r>
            <a:r>
              <a:rPr lang="en-US" dirty="0"/>
              <a:t>, accounting for over </a:t>
            </a:r>
            <a:r>
              <a:rPr lang="en-US" b="1" dirty="0"/>
              <a:t>70,000 records</a:t>
            </a:r>
            <a:r>
              <a:rPr lang="en-US" dirty="0"/>
              <a:t>, approximately </a:t>
            </a:r>
            <a:r>
              <a:rPr lang="en-US" b="1" dirty="0"/>
              <a:t>77%</a:t>
            </a:r>
            <a:r>
              <a:rPr lang="en-US" dirty="0"/>
              <a:t> of all documented transactions.</a:t>
            </a:r>
          </a:p>
          <a:p>
            <a:r>
              <a:rPr lang="en-US" dirty="0"/>
              <a:t>The </a:t>
            </a:r>
            <a:r>
              <a:rPr lang="en-US" b="1" dirty="0"/>
              <a:t>“Australia and New Zealand” sub-region</a:t>
            </a:r>
            <a:r>
              <a:rPr lang="en-US" dirty="0"/>
              <a:t> collectively drives the majority of trade activity in Oceania.</a:t>
            </a:r>
          </a:p>
          <a:p>
            <a:r>
              <a:rPr lang="en-US" dirty="0"/>
              <a:t>This indicates that </a:t>
            </a:r>
            <a:r>
              <a:rPr lang="en-US" b="1" dirty="0"/>
              <a:t>regional hubs and bilateral partnerships</a:t>
            </a:r>
            <a:r>
              <a:rPr lang="en-US" dirty="0"/>
              <a:t> are key drivers of trade dynamics in the region.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02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791A9-92D0-2BF6-FAC7-C86317EEE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01D9AB74-E789-5875-550E-C18E1DCA0AB2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932721F-72CF-77E1-3C59-6C93BA62DEE8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763B8A7-2E69-AE49-8143-EE3D399AC905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6F438637-8D12-D826-BFE5-044E9603A2BF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9DE62B39-F633-A794-0955-F609E97547C3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0AF05468-A7C3-55AB-5B3A-4C26CB98A13D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932DE98C-8F94-B616-219E-554FC237587B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56720808-6919-C225-E9C3-975C5212D24C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1010B2B8-E56F-B712-31C5-E7AA3C6C3611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F53A24A0-E188-11C9-6BC6-398E0D9CA78E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B2AE2256-03FF-EB0C-37B2-BE07E81F181E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FC0AE1D6-F599-C36D-8241-77E1448E0C1F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6219B011-7550-F94C-1C48-C3AF54D0A2B0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7429DB14-174F-A51B-1A3F-C07A235A667F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2E73ADFA-569D-810D-E492-74B3DFB1445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C0334572-B1D1-0F4C-DE78-9CCB14DBAF23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DD4602BF-CEF5-ED7F-C885-E11652A849C5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2AB20DE7-2E0C-C5D4-C10F-6F57562D2CFB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B6CB8024-17FD-CA19-CA3C-C5CFC2C60E13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4E015F08-FD3F-C8CE-BA3B-D121DD92EDC3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4527DB3A-6B17-56C7-823E-A31FF12D403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900E00F1-75DD-6C88-EB2B-EE49FFC8DCEB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487D21C4-DDCE-1FF4-E44E-5092D55DD38F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11F84CB2-843B-0D62-4D44-6027E1AACCDE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DBAD18A5-138A-61BB-DFDC-D38B7EFC883F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1D050163-B0EF-2F8F-7871-57FD7BFF8F4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31B35C8A-EB15-C104-EE9C-66B1EB85776B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6FF06632-AFC0-A574-36C6-B5C013BE12C6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473562AF-B728-B295-11E7-2437E7E68F72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101C79FA-BAF7-31C3-E739-C2A75B006818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47163C4C-DB40-9059-5368-04EA0D486D72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BFB26358-CE54-06F3-5CA4-17D05B47C2EC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151E7492-4698-4131-10A8-77FF8BE3082A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A17953D4-EA7C-D244-416F-2173641D7C4D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FE820D88-434F-6CE1-F610-1E77E5407FC7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197C609A-EA4C-4E0D-4689-4660C40F8B90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4D664902-8FBC-F491-4AAF-99F41BD862CE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BEA2EB4A-AC5E-D1D4-0FD3-4AA5F33A22C7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2E59A83-A12E-A094-09F5-C13BCFC3F07E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A6FE32AD-E719-71B9-E1B2-8E74ACA78776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F41CE187-88CB-5343-CD5A-3F131E1468AE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B961B562-2C8D-2B1A-D4A5-B38CF8AF0A08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AB7BA5EE-7840-AB7F-0483-BE110802DB6B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E1252F96-CDFD-FB66-3A37-FF2CEF21BF58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A92EE8ED-7279-B8CF-A296-0A90BD726CC6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21800031-8F25-C50B-E32A-780731E2978D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EF14B1B3-0890-9039-70AF-853AB182984E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290878D9-CA58-D7B6-53E0-DEDD86F60E53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3AA7E4B7-B6F7-781A-1712-73D3E0AA134B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579AF0CD-975F-0908-FEBD-7AA0472C31BE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C0EFF299-37A0-2BFF-8B64-0A63E527CC4A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C2DD3DBA-D0D9-CB4F-FAAD-62382B04ED8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736C8399-6178-10EB-0299-4315C55B13E1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B272F691-A3CB-814E-3718-5B9FD7DB19C8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BF776A24-4FCE-964F-2F27-D67438DADFFD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C4B96992-C303-DF07-50C5-12D445011B6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8923413D-9F5A-2C90-E0ED-F98D8D394A15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38233DBF-90E4-B695-6DC7-E3914D629DC9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6344E08B-E506-204E-DCFA-4FCB87A3732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80BDC2BD-5EB3-548F-2B83-4EF61AE439C8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2274D699-AF6E-EDB0-FA9F-6C207C404C19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FE7F9913-AF5E-315C-AA04-0120308B3C88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B260F90B-94CB-DE5E-E102-CF3678E3E80F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BC259D1B-AF27-F1DB-BDD0-13C0F773A4A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0BD003B4-B1E6-7C6D-60EB-8ADBA14DB2F3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FE198F79-D87F-AD18-202A-67C70B5D74EF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DF7286B3-17CE-C36C-CE4D-86A8C8DCA56B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064C536B-7A5B-913C-317C-D6E516758098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DC0E024D-DD6A-D145-2D2E-3C975F6726F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69BC032A-0B84-12AC-9550-FC670518918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A3069F45-6BD8-5C08-0D93-9144405894F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69AF0188-228D-00F1-102F-9EBE9841D52A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C35C738C-7F54-2857-66A6-CAB0EE5853A0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3C954900-6AF9-E3E9-4026-C53CA8DC48C2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CA8BB58-5D2C-D31A-A990-9E88F1958B0B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600" dirty="0"/>
              <a:t>Result 2: Top Traded Commodities (By Value)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1DD3A4D5-AAC5-00C4-638B-EE97775E48E9}"/>
              </a:ext>
            </a:extLst>
          </p:cNvPr>
          <p:cNvSpPr txBox="1"/>
          <p:nvPr/>
        </p:nvSpPr>
        <p:spPr>
          <a:xfrm>
            <a:off x="4815838" y="958648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54429912-4357-269D-4BE8-9FF0B5C599D3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26F6FB82-3BDD-9910-F94C-9688300FC8B4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BF817EF-8D6C-0568-632B-48634A9A15D9}"/>
              </a:ext>
            </a:extLst>
          </p:cNvPr>
          <p:cNvSpPr/>
          <p:nvPr/>
        </p:nvSpPr>
        <p:spPr>
          <a:xfrm>
            <a:off x="6318076" y="9901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9E854D01-8CE9-3F71-1D2B-0EE12CAA922A}"/>
              </a:ext>
            </a:extLst>
          </p:cNvPr>
          <p:cNvSpPr/>
          <p:nvPr/>
        </p:nvSpPr>
        <p:spPr>
          <a:xfrm>
            <a:off x="7788323" y="37589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89F149E-44D0-30D0-7A62-ADF700265A5F}"/>
              </a:ext>
            </a:extLst>
          </p:cNvPr>
          <p:cNvSpPr/>
          <p:nvPr/>
        </p:nvSpPr>
        <p:spPr>
          <a:xfrm>
            <a:off x="1960267" y="4958610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AB217590-93DA-F841-2ABA-C0DBB00AF17A}"/>
              </a:ext>
            </a:extLst>
          </p:cNvPr>
          <p:cNvSpPr/>
          <p:nvPr/>
        </p:nvSpPr>
        <p:spPr>
          <a:xfrm>
            <a:off x="832619" y="2041403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BF231471-3193-0F37-8275-C6011634B734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C5A2EE7D-C333-97F2-CF85-88CD36DE7737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E2D68037-120C-65BD-779E-D701B7CCAD6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B7F2F3B0-4963-D276-4CFD-4B8E56CC1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E82B2368-F5BD-DD2D-3096-F4E44650C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24837C49-0E32-4C3D-F2A8-B6D9CC3A5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BD24E57A-B022-7BCF-005F-A4CFC6724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EB5336C3-9DCC-4D9F-1CA4-8D32D5C1B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A7F331FA-6777-2B6B-D749-B64D66BA9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>
            <a:extLst>
              <a:ext uri="{FF2B5EF4-FFF2-40B4-BE49-F238E27FC236}">
                <a16:creationId xmlns:a16="http://schemas.microsoft.com/office/drawing/2014/main" id="{D2EA9CC8-9783-B9FD-42C1-14F8B37760F2}"/>
              </a:ext>
            </a:extLst>
          </p:cNvPr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4A6B4A-8D34-1669-C3C5-F0AC2AD303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5CC717-9CB7-2C78-D68F-62265AB6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4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CEEDAA-4904-11A5-3A4F-3D0A7334C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123"/>
            <a:ext cx="12192000" cy="36276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DDE71E-55C1-43D2-3744-8DAAB0C8E828}"/>
              </a:ext>
            </a:extLst>
          </p:cNvPr>
          <p:cNvSpPr txBox="1"/>
          <p:nvPr/>
        </p:nvSpPr>
        <p:spPr>
          <a:xfrm>
            <a:off x="416418" y="4711586"/>
            <a:ext cx="11517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 </a:t>
            </a:r>
            <a:r>
              <a:rPr lang="en-US" b="1" dirty="0"/>
              <a:t>top traded commodities</a:t>
            </a:r>
            <a:r>
              <a:rPr lang="en-US" dirty="0"/>
              <a:t> show a diverse mix of industrial and natural goods.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 </a:t>
            </a:r>
            <a:r>
              <a:rPr lang="en-US" b="1" dirty="0"/>
              <a:t>‘Others’ category</a:t>
            </a:r>
            <a:r>
              <a:rPr lang="en-US" dirty="0"/>
              <a:t> accounts for the largest cumulative trade value, suggesting that the Oceania market is </a:t>
            </a:r>
            <a:r>
              <a:rPr lang="en-US" b="1" dirty="0"/>
              <a:t>highly diversified</a:t>
            </a:r>
            <a:r>
              <a:rPr lang="en-US" dirty="0"/>
              <a:t> across smaller commodity segments.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30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EAB4B-0104-E62F-6112-41CA806A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F83B6AD5-6425-9AAD-3546-B8E00CAF70EC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75F18B9-7AC0-9447-ECC2-6ABBCA7DF432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552807E-2882-0D55-94AF-BD2349F9AA96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D8047F7C-05E6-A873-B472-096D053308B3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7862E04F-57DB-61E0-A890-38D72D3933D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953ACA63-EB71-9E30-A089-499A49CD2505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0A4AF8D2-9108-23CF-7D81-9BD2FC89982B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738FB1C6-8EB6-DB44-19A6-C9AD5E84437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4D23F983-F8AB-CE92-6C95-A2DFF4073BA7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F6739626-842E-4BBD-EDDA-09936FC68FCA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EE12F37B-7D70-B591-74BC-9070351B386C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30527C8B-B1FE-3E3E-B0FD-D4E8925C061F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92D945E4-897A-9D21-8B29-0900A2B6454F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24C11CF1-2781-1C1F-8809-29FFE1D5406B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78976C1A-DE03-DE25-B343-64AB338083ED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0951F28-9187-1324-5998-6DE3EFFBC187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81953BB9-75E9-3DF1-285D-3630C859C46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9E12851F-40B3-284A-1956-D3EEB18364E4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2C756AEC-4113-4392-BE2E-E31658446BB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594FBC08-63F6-8C62-623E-CAA795B5A413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9985064E-CE22-FC01-ED5A-42D0A9FD42FC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058315A2-FFA8-DEA1-2267-69E5E19974E7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31300E67-91AA-C5F2-1CEE-B202E6DB116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705C85B0-5BFD-0180-DF8E-C7B17745E7B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4B90B713-85AB-5BA3-4D42-5A150B8DAA58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008A5927-32C4-0A5D-A1F5-833CD583D65D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B62BBF66-4BBE-3719-02BE-42757507BED4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D4EC76A8-2259-8EB2-CCB2-33F04CD41EC3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4BE44991-CA9E-022A-502E-DDEAAC183845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87D4C53B-696B-EF6F-E424-F8A89D6FB8A4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7EDE394E-8574-8C30-B25E-381F2AAEAE38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5A69FF81-BFE7-10CC-B0C9-2132D5F82EA5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B802B6F2-DB28-2A6D-53AD-9B45E6CF2DB2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BC0AB35B-51B3-7E53-9F8D-87C75E35DCE1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1A64B67E-8920-0373-7518-F908EEB73451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807120EA-A9FD-B435-E54D-E72442E420B7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F4B6E3C1-B878-EC4B-66D5-1EBCAC41DF20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3D17D22B-7336-25BE-B520-B6165C2E5148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D7F44CB-EA25-94E2-BACF-5869701D899C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4C1E3372-9F56-F08C-1064-42623A721115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F994A189-26AE-7A84-1852-0B533B2AB2C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F363CD16-5F40-FB30-F1C5-C86CB200169B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B827B4D0-C9F9-E529-9F54-4EDCC9C307C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0762B4B3-6CC9-9D63-2F37-A600495032D3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401EE9A8-B456-2B52-7249-F9F2F5D93C7D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B4C10314-57BE-28B0-60FD-30BDE562CE27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80B83C63-0C52-2BEC-96F5-D9BB2018ED57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59A46616-F5C0-B2FC-53E7-205EB49E1116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BB7CE35F-7BCC-B001-7C8F-8C2757CF5B57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AE425506-6C2C-47FA-4BFC-616ABE05AC4C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33C56976-ED29-780E-B67E-C76267CA8A36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DB430D8C-A106-9688-26E2-BF415310E1A9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381C8D77-0A55-FEB7-F0E9-32C30EE084B5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000FD4AC-E1FA-7647-C0FF-2FEEE9BFF89E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E9F8B6FE-51B5-C2C7-17FA-2A024A65282F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4648B80F-A2B2-4F2D-674C-BE0FC232C15E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50083FD2-4041-8566-6D76-BDC8CF4F5FA6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C9DF80EA-46BE-744D-FF05-DC665538511C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2EBA63C5-F160-A126-3C92-1A4510A28BEC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63CBD624-22DA-A81A-3DB1-DD1BED4F9E72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5F75304B-B389-E815-A097-DDF3F826C902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49DCB0F3-4D63-0C6C-7645-DE263EDF0D94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0C3CF584-C347-209D-65ED-5C3B0CC7814F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9BBF1B87-799E-B0BE-EE4B-E49B0555DAC1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A8D556C2-3321-2415-B55B-7380793FFE1D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71DE7A18-88C1-AFF2-394B-A0228FED8961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AE6B0624-0CB2-08B6-C184-F81DF83818C8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2799AD8B-41AC-3415-8A45-1C3D9926DD7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4BCE81AC-9879-8E98-87BB-AD99A1C74AFE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CFD1D87E-059E-DF44-3E30-F000BEEF1881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96BC95AB-54DC-072E-E9D9-DA7A9BB42471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C4DAF88D-57E8-078B-4EBC-634922DF0FA3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570BF8A1-CF89-F14A-8AB0-4D35C1F62B5D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4E66C90A-0922-4BD0-CF5A-E6A996D2D246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80F3D8B-5DF2-48A4-F8A9-2D8A29B75C03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600" dirty="0"/>
              <a:t>Result 3: Temporal Trends in Trade Value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82FD7C91-5441-31DB-D87E-EF547C8A2718}"/>
              </a:ext>
            </a:extLst>
          </p:cNvPr>
          <p:cNvSpPr txBox="1"/>
          <p:nvPr/>
        </p:nvSpPr>
        <p:spPr>
          <a:xfrm>
            <a:off x="4815838" y="958648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384AB2FA-A554-90BA-226C-40541B7D8A39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FDD2639D-3DC2-7591-6573-FD7F6F4ED81C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6D148B2A-5FE9-3D69-7F60-3943652DED6B}"/>
              </a:ext>
            </a:extLst>
          </p:cNvPr>
          <p:cNvSpPr/>
          <p:nvPr/>
        </p:nvSpPr>
        <p:spPr>
          <a:xfrm>
            <a:off x="6318076" y="9901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4192653A-1DC1-3CFB-81D2-FAEF9DE42406}"/>
              </a:ext>
            </a:extLst>
          </p:cNvPr>
          <p:cNvSpPr/>
          <p:nvPr/>
        </p:nvSpPr>
        <p:spPr>
          <a:xfrm>
            <a:off x="7788323" y="37589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969566EB-334C-0F06-D770-3032B1A3E96B}"/>
              </a:ext>
            </a:extLst>
          </p:cNvPr>
          <p:cNvSpPr/>
          <p:nvPr/>
        </p:nvSpPr>
        <p:spPr>
          <a:xfrm>
            <a:off x="1960267" y="4958610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DD3CF2BD-DD67-39B9-69D5-55AE1B7D70AC}"/>
              </a:ext>
            </a:extLst>
          </p:cNvPr>
          <p:cNvSpPr/>
          <p:nvPr/>
        </p:nvSpPr>
        <p:spPr>
          <a:xfrm>
            <a:off x="832619" y="2041403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0F613811-4789-5808-FFC8-95DD54730032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59FCEB28-2F55-B72E-53C2-3C0B0C272A64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8AA8E40E-9F69-8F15-1879-B0813BB00A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2C36BB62-5573-4729-5D1B-059C0B776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8C2B8D4F-0583-8EBA-5662-9B5B1D23E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0538BC64-3EB9-AB40-9281-881B2B369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CFF5A8F4-491C-E0BA-2440-7634E94F1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32944692-3C10-26ED-4FC5-FFAF4D7C6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5999D115-BCBE-15BC-7EDB-2A1BB8473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>
            <a:extLst>
              <a:ext uri="{FF2B5EF4-FFF2-40B4-BE49-F238E27FC236}">
                <a16:creationId xmlns:a16="http://schemas.microsoft.com/office/drawing/2014/main" id="{FD99D00E-C64F-DD6A-2325-D5FC20FA4593}"/>
              </a:ext>
            </a:extLst>
          </p:cNvPr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E58C9-24DE-009B-4D62-83D2450901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6E0C6-EF97-BB43-DBAF-93502254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5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58CC5D-C863-318F-D280-9A46417A5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079" y="675907"/>
            <a:ext cx="8531406" cy="40468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C76F57-CCD8-787E-069D-3A5678F92390}"/>
              </a:ext>
            </a:extLst>
          </p:cNvPr>
          <p:cNvSpPr txBox="1"/>
          <p:nvPr/>
        </p:nvSpPr>
        <p:spPr>
          <a:xfrm>
            <a:off x="567825" y="4927086"/>
            <a:ext cx="114336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 overall </a:t>
            </a:r>
            <a:r>
              <a:rPr lang="en-US" b="1" dirty="0"/>
              <a:t>trade value trend</a:t>
            </a:r>
            <a:r>
              <a:rPr lang="en-US" dirty="0"/>
              <a:t> across 2015–2025 shows a </a:t>
            </a:r>
            <a:r>
              <a:rPr lang="en-US" b="1" dirty="0"/>
              <a:t>steady upward trajectory</a:t>
            </a:r>
            <a:r>
              <a:rPr lang="en-US" dirty="0"/>
              <a:t>, indicating </a:t>
            </a:r>
            <a:r>
              <a:rPr lang="en-US" b="1" dirty="0"/>
              <a:t>growth and resilience</a:t>
            </a:r>
            <a:r>
              <a:rPr lang="en-US" dirty="0"/>
              <a:t> in regional trade.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Seasonal fluctuations are visible, with </a:t>
            </a:r>
            <a:r>
              <a:rPr lang="en-US" b="1" dirty="0"/>
              <a:t>trade peaks observed in Q4 (Oct–Dec)</a:t>
            </a:r>
            <a:r>
              <a:rPr lang="en-US" dirty="0"/>
              <a:t> and consistent dips in </a:t>
            </a:r>
            <a:r>
              <a:rPr lang="en-US" b="1" dirty="0"/>
              <a:t>Q2 (Apr–Jun)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024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80FAA-C00D-C125-3475-38D1940F0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6543F35D-CB84-D720-CDFC-3F769C468BCE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8FA5ABD-868F-7950-BD47-206F1B803A9C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6648CDD-9D00-A76C-0A2E-47F508173060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10643B07-28C5-FE41-B3E4-C665E0221DCE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F95C1D77-F230-1B52-E999-E81EA411666B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1098DFF8-EC08-BDEC-0686-99E64D6E3C3C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8ECB8C9D-6BE1-365D-9E98-F0980CDFD52D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4AE52F7F-E3A1-E13B-F8CA-F3965F965AE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2BDCC390-11B8-1F2F-758F-50ADC46AECDA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C8BD5669-17BC-DCA0-4470-B3D3BC70EDF9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C97AB1E9-96A9-AD23-C297-C6A2E60225A2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56398C82-9337-8D1C-C9A5-043BB79C67D0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FC4B195F-AE82-BE3B-439C-7773A3163CCF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58B84704-2A62-A46D-41E3-6BB7BC26B992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9E640346-BA23-99D4-E48E-A4F8C4D79E9B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CDB0971-CFE8-ACA7-5297-220580E715D7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9D27E9B0-054F-353F-B730-4E49594466AA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F10603D3-A4CF-05AB-DCAF-B809866F447F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0F3A6E80-71A3-FDB7-8A5D-D98A62E6EC6C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0C80F29E-3306-88A2-A129-FD925BC3D2F7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7E712F18-8982-71BB-B845-86EB9EB5F34A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9A54E139-B184-A81D-7558-1AD1C6DA8A05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6A37C59F-2EBC-B90A-3C40-5F7CF087DDA5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54207E0B-A11D-E90C-998B-41A91D322D3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620F2B1A-C24A-4D88-51FB-A4444E868DE1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F1E92EC9-BA5B-5724-F4DD-52878A1C48D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0AB73262-FAA2-1603-0E34-33884EA8D62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F09848F3-C1D8-EB7C-3769-BB811C960BB6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BA3349F-B9DA-8B58-3F26-6EE611F03F1D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28535C54-DF15-462B-7C28-F5C682471F4D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251F3033-D1CF-FFE3-C781-CC308B07561D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F127F10E-22F0-5C97-86E9-F8F3129B0F93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979525CC-319A-DFC8-6724-1FBE75EFE6FE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8D1174A0-3349-AA1B-65C5-A98AB86F02A8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F2F507D7-CDD1-A0BB-9F26-6CCF9814BBF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489DB408-8AC1-4948-B0D6-7D40C267E39D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53B3616C-B109-B330-5B9E-7D76525B91DA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F356FC60-A0DE-7092-A0CE-9E55BB627C36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F772C92-F931-86F6-1278-8D037DEFE353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82E06EF9-3327-FB5B-D382-39177D45C931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66F01C1C-68E2-1C5C-0F6C-5B64ECE768B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38FAC518-3D47-99B9-D684-348D1F5EB2D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D8FCE30C-2F39-ADD7-36E1-CC3008C2A8B2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D09C069C-2BF1-399B-BAE7-9EC4E324DF6D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E7039893-7051-3C0C-31DB-9A151621409F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4CBE07BE-AA38-8D81-480B-E7D18F17E4A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886102D7-DFFB-010F-7FEA-0F7E8E9B4BE8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83B0BFEE-224C-1866-F9EB-952F08F2C19C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E52A741B-DDC8-2FFF-D390-052F9233D4A2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29010739-0CE4-A02E-9C0E-77517AF15B80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09D6DDF6-4611-981D-763E-079138357E6F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77C7B22F-7000-1255-2196-4B5C3CD1EAFD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47B20C60-2863-600B-EC5B-808102107FBC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77B16D14-606D-B9D5-FCC5-50BDA610230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97A25B10-609C-DF05-143F-2394AF733A97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B9FC6914-0697-AF60-BC9A-8C17054EBE2A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90727EF9-1594-DCCC-2D32-9FC3A9CB529A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FBDC6D3B-A942-E287-F5A3-56F7C7DBF726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573BC1A0-22E0-7737-F9A6-2ED44054F39C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6EFEB6D1-B552-DDD0-79E8-026D45CB1C7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A9119574-1367-C4CF-7BF2-04A7238E3FD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A624BBD3-E4E3-D243-8FD1-9D9A9E26605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CA577269-E34B-8771-8C3A-7ECEA491215D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76B752AF-0871-FAA9-7E2A-FAB7F5FF762B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F669D53C-461F-8595-C3F0-DE705C38AF59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A0F8E24E-E026-7BB8-F050-0FC1EBF534FD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E3527D86-1592-2E9F-24A3-AB9D8872C442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0EE8FC05-3832-8AC6-05DF-043A9548A128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D307DFCD-D9E7-0343-B480-8C74EDC64491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1315C898-79FD-CF2A-8FB0-F7C059CC47C8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42F7DFB5-5CCA-D556-9800-2791A68FD3FC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B6FBE2C2-E24D-A5B3-AD36-928699E9F46B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0DE211D9-0631-3E62-CC34-A9F64EFBE874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64A39D53-FE66-2ED8-77FE-2FB18C3D25E5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0015A2A-0D8C-D600-2CAE-739AED480AF2}"/>
              </a:ext>
            </a:extLst>
          </p:cNvPr>
          <p:cNvSpPr/>
          <p:nvPr/>
        </p:nvSpPr>
        <p:spPr>
          <a:xfrm>
            <a:off x="1" y="-572"/>
            <a:ext cx="12191999" cy="58477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dirty="0"/>
              <a:t>Result 4:Clustering Analysis: Trade Behavior Segmentation</a:t>
            </a:r>
            <a:endParaRPr lang="ko-KR" altLang="en-US" sz="32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5837115E-0D4F-188F-40B3-4CBD08E373CB}"/>
              </a:ext>
            </a:extLst>
          </p:cNvPr>
          <p:cNvSpPr txBox="1"/>
          <p:nvPr/>
        </p:nvSpPr>
        <p:spPr>
          <a:xfrm>
            <a:off x="4815838" y="958648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0BB1309E-71C3-DB85-2C6E-6CDB6C2096AB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8EE2D647-A8A3-F86A-61F6-217940A1BA0A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3C9AC07E-2631-0B17-A605-6D7544CEDD9A}"/>
              </a:ext>
            </a:extLst>
          </p:cNvPr>
          <p:cNvSpPr/>
          <p:nvPr/>
        </p:nvSpPr>
        <p:spPr>
          <a:xfrm>
            <a:off x="6318076" y="9901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5F1F7D39-502B-81CD-8619-7ED907566431}"/>
              </a:ext>
            </a:extLst>
          </p:cNvPr>
          <p:cNvSpPr/>
          <p:nvPr/>
        </p:nvSpPr>
        <p:spPr>
          <a:xfrm>
            <a:off x="7788323" y="37589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8C462BD7-C50C-6A8C-5027-94067598BB8F}"/>
              </a:ext>
            </a:extLst>
          </p:cNvPr>
          <p:cNvSpPr/>
          <p:nvPr/>
        </p:nvSpPr>
        <p:spPr>
          <a:xfrm>
            <a:off x="1960267" y="4958610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8EEC503E-EBC9-634F-4C9B-11D672203F5A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7ECD7C31-17D9-8559-279A-64FEA1EBE7B6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77E8031C-ADC4-44A7-906E-334D77FCFB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F29ABB68-E3DA-124E-60D8-E423E87D0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804A9E5B-D47B-A07F-02A2-747C9FBF1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C68D9053-64D4-1D8E-98A5-FD63A1F5D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4F6C44DF-62E3-06D5-8F78-49B7FBEDF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921F7086-AAF2-5C9F-59BB-135035EDE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691BAE2C-FDD7-F765-1BD1-CCEC9A89C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>
            <a:extLst>
              <a:ext uri="{FF2B5EF4-FFF2-40B4-BE49-F238E27FC236}">
                <a16:creationId xmlns:a16="http://schemas.microsoft.com/office/drawing/2014/main" id="{483A6B2A-6709-93F8-0AC4-41703375178A}"/>
              </a:ext>
            </a:extLst>
          </p:cNvPr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C2F88-5791-9710-763D-9FAB530798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62A6B-8D4F-F1A4-3906-3B1DAA88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6</a:t>
            </a:fld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B16B3B1-0567-A9AE-136F-B636331BD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48" y="4843172"/>
            <a:ext cx="121919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K-Means clustering (k=2) applied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Value (Rs)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trade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0: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High-value, low-quantity imports (premium goods).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1: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Low-value, high-quantity imports (bulk commodities).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shows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bimodal trade behavior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extreme outliers.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Highlights regional mix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mass-scale bulk trade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high-margin niche goods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83D554-D863-C7FC-B1F7-7225C589B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820" y="653424"/>
            <a:ext cx="8162925" cy="420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70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5DEC7-FA8B-72CE-B15C-E580AA5CE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7C829DB3-0B8C-F3C5-8C70-BFE33279C6AD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5883DD3-DE9E-5396-8835-AC0845EE9FB9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97279309-FD1F-F9A7-C47F-79003DE58E8B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30B821C2-3E08-B6BF-B987-1C95F453FFAD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7689875F-512F-7D5E-E711-8F24139467AA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A4E888EF-A66B-3BDA-5589-C19C8FC767B6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AAF76AB9-DB70-7060-532F-6999F2DF1EAC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E6B692BC-AFA1-FFB0-067A-84B68B38B62B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ECB2307C-6C93-0F4E-0EEB-851389C5862D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17AD7FC5-A87F-5981-C0F4-7D2B33DC90DE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E183AE41-56AB-1993-628F-2B51BB3F8702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F5F4AB0A-614C-7A1D-E2A1-1AB704F40F39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0A4B4931-6F37-26A6-046F-A2F41E9424ED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F71E545C-0B31-96C8-2D0B-C75F2D6ABD5B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CA356B01-E37D-5669-7F4D-87852BDF7145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E95D1659-9ACD-0D8D-58B8-739859506778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CF25021C-DB6E-5ECF-EF99-F6612E66EDFD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F3066386-51B6-CB8B-8388-210201EE0174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34FA1856-0344-CEF3-4C75-0F0F6C92F4E0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943B6BEC-96DE-049F-95DA-8166D0645DC7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0B4C3300-2D24-7E76-222A-BA096EDE7A8F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1605758D-1A25-4D78-FFEB-06B4C77EB6DF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D4127DF2-0F5F-6241-461C-151D2A97CE5F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2ADEF5B5-9429-C801-8B04-CC8F803DDE5A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5038265-DECC-A23A-EE60-ACF20DB8FE1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C23210C3-CC3D-7EA1-A0AC-6FC106200B34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8BFB4D83-1EC4-5433-FCD0-F008B4F7FC55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2C42E7C2-017F-D0A1-79C5-BF73B15D3B08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21A05687-F9F7-FE51-6232-1E5344CA11D8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00B5DCF0-389A-CB5B-3F83-F4C483A35F45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A928782B-28F5-A05C-068A-518D69816914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323EAF75-779F-7B12-93C9-39FD7265C0F8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99B7EFC8-7C03-9223-47AF-29DB08DEB68C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F30B8AC-859A-6888-18C0-3E3233A44437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BBED2FB0-1201-4AA5-D71A-E5FA5C40ADC6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EF9069BD-84F6-2754-F2D5-996E7658E710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880BE266-26C8-515E-7D89-0A927CAB4852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6520CEBA-ED39-A8B5-7A20-839A0FDC59F4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14828B4-F6B0-00C7-9304-6A5CF2EE0EA6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F4E44A6F-BD61-E0DE-EAAA-CF54C833D415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0120DE89-EBE7-491D-3C26-B92DAFB8E3F7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977A1EF2-DDC2-AA4B-4E53-01100AC0B5B1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C09DA9C5-FEC5-448E-9A68-3771303388CC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342F59D5-4EE4-0A92-18EC-18CBF36FF54F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12A833EF-D907-1A3F-35B8-12C232288CBC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7BCDD8B8-2301-189A-5222-D2A461ED6B40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C57D62C0-E767-AFB1-38EB-DB737BE5F2FA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5311166A-ABEC-6E66-8330-489CBE51F050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692B407D-8258-22DE-76A4-2EB98C8640E8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33C79181-80AF-927B-18A2-98D318D9E09B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FD8322EE-A603-F3D0-60FB-8490504C714A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9B8A2AB8-248C-8D90-1FF2-9A0246A030DC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92E69A92-F0C8-9F7F-0DA3-C440907F059B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3AE4827D-BAE2-767A-BFE8-7D540FED1C5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9A33C8FB-E6E9-5606-97D4-BF1BF9539A9F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8E41074F-F3B2-D93A-85F7-EFB58A3F5A0A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468BA072-01A5-F485-7555-CB1F802D87A4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94EBAEEC-4FB0-DAA7-EEFD-BE68F7C5999D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BF8E486B-C6AE-FC9A-AAE3-4D5878ACC780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2A302721-031D-AA8A-0BA5-A782DD65BAFF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659796BF-1097-03EE-AFBE-F92DC52EC347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9D0313C1-1CE5-5AC7-129C-A0E37E46640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FD995F39-AE25-78F5-3307-77CD5CFBF0D8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F8EC0D63-F287-715E-4F57-A2A84E1FD58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53D73B86-C7C2-B28F-04C8-A65D237A225B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2A875A28-6218-B75B-CCA0-02F224BA622D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965AB4C0-9E5C-61CA-D845-C615BB6B9384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EA0D4D92-B456-F279-D717-6075B3A3004B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8E8B69F8-56DF-344E-DDE7-8AA69A86641D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3297965B-D5C9-9456-AB7D-2566AB46C8AA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E286968B-DEB1-B084-1522-31CADF1135C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F103C95A-5D88-5C97-BE99-E212ECE2C6E4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3F8F3701-19EF-C48E-9C53-D0F9A9879C65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FD05A674-3CD2-7806-F126-8586DDF3D115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6641C97-9937-8EB1-3852-2DA1A004E294}"/>
              </a:ext>
            </a:extLst>
          </p:cNvPr>
          <p:cNvSpPr/>
          <p:nvPr/>
        </p:nvSpPr>
        <p:spPr>
          <a:xfrm>
            <a:off x="1" y="-572"/>
            <a:ext cx="12191999" cy="58477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dirty="0"/>
              <a:t>Result 5: Commodity Performance Over Time</a:t>
            </a:r>
            <a:endParaRPr lang="ko-KR" altLang="en-US" sz="32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C3F0D4E0-B1E8-9EA8-B45F-3CDD2A57D813}"/>
              </a:ext>
            </a:extLst>
          </p:cNvPr>
          <p:cNvSpPr txBox="1"/>
          <p:nvPr/>
        </p:nvSpPr>
        <p:spPr>
          <a:xfrm>
            <a:off x="4815838" y="958648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9CF81019-BB52-8B08-7CE1-51381373329C}"/>
              </a:ext>
            </a:extLst>
          </p:cNvPr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41400F26-6341-C318-6C3C-CDCC25113953}"/>
              </a:ext>
            </a:extLst>
          </p:cNvPr>
          <p:cNvSpPr txBox="1"/>
          <p:nvPr/>
        </p:nvSpPr>
        <p:spPr>
          <a:xfrm>
            <a:off x="3436733" y="35636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D692DAD7-E0F7-8A3C-E132-88035672C302}"/>
              </a:ext>
            </a:extLst>
          </p:cNvPr>
          <p:cNvSpPr/>
          <p:nvPr/>
        </p:nvSpPr>
        <p:spPr>
          <a:xfrm>
            <a:off x="6318076" y="9901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33B1EF9A-021F-186E-1C64-8226BAE6F8F6}"/>
              </a:ext>
            </a:extLst>
          </p:cNvPr>
          <p:cNvSpPr/>
          <p:nvPr/>
        </p:nvSpPr>
        <p:spPr>
          <a:xfrm>
            <a:off x="7788323" y="37589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1FA070FD-18CA-7ABD-5CE9-AAEA0F63AF37}"/>
              </a:ext>
            </a:extLst>
          </p:cNvPr>
          <p:cNvSpPr/>
          <p:nvPr/>
        </p:nvSpPr>
        <p:spPr>
          <a:xfrm>
            <a:off x="1960267" y="4958610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9" name="Freeform 6">
            <a:extLst>
              <a:ext uri="{FF2B5EF4-FFF2-40B4-BE49-F238E27FC236}">
                <a16:creationId xmlns:a16="http://schemas.microsoft.com/office/drawing/2014/main" id="{24950DFA-4DD2-7436-9640-64297E33AEDB}"/>
              </a:ext>
            </a:extLst>
          </p:cNvPr>
          <p:cNvSpPr>
            <a:spLocks noEditPoints="1"/>
          </p:cNvSpPr>
          <p:nvPr/>
        </p:nvSpPr>
        <p:spPr bwMode="auto">
          <a:xfrm>
            <a:off x="5133215" y="37305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" name="Freeform 11">
            <a:extLst>
              <a:ext uri="{FF2B5EF4-FFF2-40B4-BE49-F238E27FC236}">
                <a16:creationId xmlns:a16="http://schemas.microsoft.com/office/drawing/2014/main" id="{CB5DE049-940E-A3E5-D30E-3910BB32B6A8}"/>
              </a:ext>
            </a:extLst>
          </p:cNvPr>
          <p:cNvSpPr>
            <a:spLocks noEditPoints="1"/>
          </p:cNvSpPr>
          <p:nvPr/>
        </p:nvSpPr>
        <p:spPr bwMode="auto">
          <a:xfrm>
            <a:off x="5130834" y="25383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1" name="Group 14">
            <a:extLst>
              <a:ext uri="{FF2B5EF4-FFF2-40B4-BE49-F238E27FC236}">
                <a16:creationId xmlns:a16="http://schemas.microsoft.com/office/drawing/2014/main" id="{DA401DB5-EEE2-06F2-0891-545AE6FF297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373" y="24382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62" name="Freeform 16">
              <a:extLst>
                <a:ext uri="{FF2B5EF4-FFF2-40B4-BE49-F238E27FC236}">
                  <a16:creationId xmlns:a16="http://schemas.microsoft.com/office/drawing/2014/main" id="{3E31D84D-3E53-60EB-9542-661B9F91C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7">
              <a:extLst>
                <a:ext uri="{FF2B5EF4-FFF2-40B4-BE49-F238E27FC236}">
                  <a16:creationId xmlns:a16="http://schemas.microsoft.com/office/drawing/2014/main" id="{34213B91-330D-91F1-F721-994FFC8AB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8">
              <a:extLst>
                <a:ext uri="{FF2B5EF4-FFF2-40B4-BE49-F238E27FC236}">
                  <a16:creationId xmlns:a16="http://schemas.microsoft.com/office/drawing/2014/main" id="{EDBD58DA-D3C6-FC38-CF95-AAB10E61B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9">
              <a:extLst>
                <a:ext uri="{FF2B5EF4-FFF2-40B4-BE49-F238E27FC236}">
                  <a16:creationId xmlns:a16="http://schemas.microsoft.com/office/drawing/2014/main" id="{34F2CEAD-24C4-1E96-3DD9-A47619FEC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20">
              <a:extLst>
                <a:ext uri="{FF2B5EF4-FFF2-40B4-BE49-F238E27FC236}">
                  <a16:creationId xmlns:a16="http://schemas.microsoft.com/office/drawing/2014/main" id="{526A305D-5C3D-D41A-2566-B7F4872B7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21">
              <a:extLst>
                <a:ext uri="{FF2B5EF4-FFF2-40B4-BE49-F238E27FC236}">
                  <a16:creationId xmlns:a16="http://schemas.microsoft.com/office/drawing/2014/main" id="{D77C9562-B3D4-0C61-826D-1221B1475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8" name="Freeform 26">
            <a:extLst>
              <a:ext uri="{FF2B5EF4-FFF2-40B4-BE49-F238E27FC236}">
                <a16:creationId xmlns:a16="http://schemas.microsoft.com/office/drawing/2014/main" id="{2FB36CF3-3FF9-0953-DBF1-EEE2D3467AB2}"/>
              </a:ext>
            </a:extLst>
          </p:cNvPr>
          <p:cNvSpPr>
            <a:spLocks noEditPoints="1"/>
          </p:cNvSpPr>
          <p:nvPr/>
        </p:nvSpPr>
        <p:spPr bwMode="auto">
          <a:xfrm>
            <a:off x="6549005" y="37305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6D28D-E72C-D183-0E28-5BE7336826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A9F05-8784-0289-FDB9-85FDB9C9C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7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D717D2-4EB6-0187-30F8-03415F34B6C4}"/>
              </a:ext>
            </a:extLst>
          </p:cNvPr>
          <p:cNvSpPr txBox="1"/>
          <p:nvPr/>
        </p:nvSpPr>
        <p:spPr>
          <a:xfrm>
            <a:off x="749339" y="1446245"/>
            <a:ext cx="106495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Base Metals and Agricultural Products are the top traded commodities in Oceania.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Agricultural Products led total trade value until 2020.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Post-2021, Base Metals grew steadily and overtook Agriculture, reflecting industrial expansion.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Highlights a shift in trade composition and evolving market priorities.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864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CA5B1-B7F6-231B-CABD-F8B7A2E4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4A7DCB8D-DE5A-8A78-9A86-24A58939CF6B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5DDD54E-0CA3-ECE3-385F-CEABCA4AEBF8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4467BF3-CF97-A069-B5D4-0DB89CD9C743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08F8D5DF-5DCA-2856-B198-357FFD6760D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66AB06E4-3C55-3EFD-900D-536AC22FAB30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91AAE354-014D-1901-F6D4-8A13A1A921C9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867BA881-3DD5-97F4-63B6-0FE569F8F614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9D3D4472-B260-53FC-0D2F-876838B00A76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28387A6C-9110-9F83-E6D9-DA4A5CD7382B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EE3A8E01-0D6D-A6E4-53F0-0AE89778F627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B6C7ADB0-C013-45D0-6E30-9567EFD50C41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DB117CA-414E-35A8-CBAB-4D775035D519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24C7997A-8D6B-F5F8-4F2E-7C583F560212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95A8A2AB-BF6A-E67E-0D19-DFBFF5DAB407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CC74F090-C1A6-8E25-E961-65962907B270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6AE9A1AC-DAE8-8DEA-BC8B-99273E677AB2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B93A68C0-6109-4229-30AE-88071989AF0B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5F714FBF-CBF1-F82A-6875-AC5509402CAE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507E2D65-4ADA-2963-E50A-864105201341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09E59489-259F-F2B0-9211-A64DE1EEC683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917E88F7-D042-BFF4-C17A-1A5317C0CE52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812099A6-A778-D582-499F-E21A37A18939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77C06F29-1608-0890-4D8F-FB636B4C8AFE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301639F1-B419-0603-B091-BDD436FCADC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1A6BCB3D-BA98-9896-0C76-E568E2A2BC01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E38B9053-140F-A907-FE1B-CDBE7F96F2C6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614C67B2-979C-BC46-2B04-85148BA0BF91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CA693D6C-4183-FAA6-13AD-EA488A0588F4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D0BB0041-8BAF-1B03-B1A9-FF52CC39394A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BA67D9A6-957A-42FA-C1D2-994C998167D2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E4E1234D-A642-CF4F-1310-46EC40114134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8ABEABCA-8EE5-EA9F-C918-9CA1C5C7CF85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D8751CC3-CBE2-585F-6959-A3E6C411C2AE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48504163-49E7-B721-54DC-DE7778B17938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228C0FF8-F13B-1AA6-D219-29C087BB1997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3837D4A6-CBAB-ECC4-0A5F-1C8B70B468EF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B50035B3-C914-432D-F4A1-16390E462ADD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6F301C9C-702A-4F9F-FE66-67CE42CE4E6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60769D9-1A21-E8F5-DC54-1615EB140BF7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AE11267D-833F-AEE6-7E2E-88796592E7F5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B57AC6D2-2788-79E2-633D-B48840543C59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9AD2320F-FB2B-97F8-AE47-B0B794DD498F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3EAAE1C3-FFBB-F727-8B62-157FBF8B7CCE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E20EB93D-34C0-D4CC-807A-B84D9F3E31C6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E2F422B8-6EC4-B858-32E8-DCF9049CFC1A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1FC98AD5-ABDC-3541-D47C-431F0A047664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CDDB1259-626A-DD44-7B55-C711226BEB64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1291A1E2-D838-53C8-E45A-40CAF73D7AE9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D28DB735-87E0-E0ED-BF89-D97BCDCCEDA7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C2DB68AF-1CA1-3FE1-40A1-5521CE94981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93867C03-7E3D-F3D7-5F75-B23EF4E078A6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4DD0A59A-48FE-8811-D62F-1E32F21B5712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638CB888-585A-A40A-B12E-F25AA0D7DADA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3A9904AC-7F44-6E21-3647-45685DF4BC7B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AFA6F1A0-F60E-A664-4D36-4AA49D9FE1DC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361AAF13-AB52-CE93-5807-E269C83F33F8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B53DD0E8-393D-FFBC-77A2-618A513BEC77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B211C3A5-90B8-DB0F-2204-74B11C2220A4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D2D56042-6746-6CC0-A5FE-AD9D864AE7EF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D7DCDCC0-3AC1-2AA4-6C4E-2B9129EBC231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34099C83-984C-BBC6-3DBE-6C50029025EF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945594D3-855D-72D1-657B-9366792A5B9A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87E1B007-5D93-DE30-155E-03BE23A25BBD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BA88FD8A-5131-FDB3-106D-E8CE7A56EB89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7AF3EEB4-4AEC-403A-7CF5-A69DF3D9BB37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F2DC181E-C4F7-5BC2-414F-95F5288C2A54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AFBA4690-11E7-C619-9D5A-DFE7749B8493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C1CFAF69-CD46-897C-A9E8-63A7D4D92C7D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773B26CC-C9FD-B72B-BACB-A809C22905AD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4288BC3C-4AF4-1D2F-F5DF-F2A638C3705A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F311876F-DA9D-B397-816B-27D3A1B33F3F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2A8FBADB-DBCD-4092-7D5C-0E51F346B954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89F88834-CCC5-1901-7F3F-95B78AC3887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F559AFA1-BF25-9134-98B9-6A5AA8BD56AC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7B36279-DA0A-087D-C5BC-DA62394C657C}"/>
              </a:ext>
            </a:extLst>
          </p:cNvPr>
          <p:cNvSpPr/>
          <p:nvPr/>
        </p:nvSpPr>
        <p:spPr>
          <a:xfrm>
            <a:off x="1" y="-572"/>
            <a:ext cx="12191999" cy="58477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dirty="0"/>
              <a:t>Final Summary of Findings</a:t>
            </a:r>
            <a:endParaRPr lang="ko-KR" altLang="en-US" sz="32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F97CA9-F9C9-0AF8-50FA-0C2B80AE41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48CA0-398B-D39B-BF5B-1879A1F9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8</a:t>
            </a:fld>
            <a:endParaRPr lang="en-IN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0AABB33-3340-D463-1E99-797D2A05C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899" y="1870781"/>
            <a:ext cx="101587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Dominant Trade Hub: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Australia accounts for ~77% of all transactions, driving regional trade.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Trade Composition: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Mix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high-volume bulk goods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minerals, agricultural products)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specialized, high-value commodities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precious stones, machinery).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Trends: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Trade values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steady growth with seasonal peaks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the decade (2015–2025).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Evolution: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Commodity performance shifted over time — Base Metals overtook Agricultural Products post-2021, reflecting industrial expansion and changing market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 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Understanding trade segmentation and temporal trends can guide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decisions, business strategy, and market prioritization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Oceania.</a:t>
            </a:r>
          </a:p>
        </p:txBody>
      </p:sp>
    </p:spTree>
    <p:extLst>
      <p:ext uri="{BB962C8B-B14F-4D97-AF65-F5344CB8AC3E}">
        <p14:creationId xmlns:p14="http://schemas.microsoft.com/office/powerpoint/2010/main" val="378470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55DC1-B86E-9126-C644-89CA5C220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AB60F8C0-025C-AA56-0364-BD9133B45FA2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D9E07C8-04A9-5863-5CBE-888304B42FAC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339DE50-31C2-F561-1B4B-DC5DB6337E4E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95F4A93B-466A-9462-D8CB-32EC0CBCED79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4B12DD25-2F61-D857-5F51-8B33C409AD7A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63E20E77-1F93-A826-20D5-C1382A67DBB4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1340AA39-16B2-1EAA-9A70-3AB65EEA0C86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27FDC009-396D-8245-30D3-308BCB75971C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D8067009-4B36-1287-749D-13DF1780B9EA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8DE1FD26-49C5-73FB-0B84-5A98C4DD909C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839191B7-3A4F-D01C-397A-4AD296EC77B4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62C9EA4E-4884-E779-5217-9C6E9A90AA50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3B18147C-67A8-BE37-F40C-E6C73ED038CD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B76D2C1F-8259-1815-1D16-4AEF8C365083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B324EAB1-D1DF-73C3-1E3C-44EFBBA6EEAD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AB4D3469-B271-C9CB-C293-CC2921210EA3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D1D317F5-D3FB-3C4D-6D03-97B964FCBB24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2218F27A-446A-9A4A-643F-66F6BD175B81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A8D5EA2D-6ADE-1DAC-77B2-248F930A4B91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23755925-7155-2C87-CFDA-E264A464AB7D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D05DD636-1A66-5709-DA81-0681C14B2D4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4E1FB283-382E-84A7-82D4-C1C0D35426D8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22234B50-F964-D0CC-1B64-58F16364319E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0FF98418-647D-E6A3-97B8-C2B59F84631E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61ADD66A-BCD6-6EF7-7D82-4DF6ADA53068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CDD26DB4-7E87-9B59-0E1E-39D136F31199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6EE87EDA-EC73-5AFD-5E36-4D4F085CB7BA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A6A3ADE5-C23E-F8B9-A150-655C920CB2B0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C944BAB3-2A34-3E7B-B6EC-C7CFBF3DB796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4CC3B963-11E1-94C0-D9F6-4100950BA819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3CF0B2CC-9A2B-8D1C-11A2-1DEE22F66AD9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679EAC69-C007-86FE-4980-2C60D36F7752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F77627AE-61EE-DF71-8B28-B10ACEAE36C1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57F085CB-D1F3-5132-28CC-911F1DC15D7F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09D71281-66FE-624E-323F-78F3DC6974F6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0D6365E4-D7B1-0E51-F844-5B59513C78B3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75564AD2-57D1-25EF-513E-E59773B17D0A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72B0DCB3-682E-AAD6-18DD-BA3814F465A5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662EC9F-29D7-B362-B9D3-A66B1C070245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176926E8-581F-3ABB-35B3-38D5275BC24E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6B17D39D-B02A-24E4-DFDC-080A2CB76729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D7D0602D-0563-9012-25AA-2BCCF48DE17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A4C07369-2CAE-90A8-C288-492E5BF2434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62804B7D-072E-C663-79C4-8B5B56FB5E83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EBAFD513-D425-DC95-DD59-DED3CCC5B8EC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27218C02-4911-31F9-FD69-0F04C5D89B97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8CE86C13-253B-BFA1-4D66-280DDEF311DC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E17AC297-E53B-3CC6-3BE7-0729B17DF9FF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840209E8-5333-458A-888E-53160A13E393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422870A4-E919-2799-A936-9121E8AF5802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B0544241-4C46-1485-8B5C-07036A55D205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7C504191-B248-8EFF-E344-74090E2BD0BF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95B26369-A8CF-E1CB-A45D-122F3159A439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19DC3A3E-B5B0-5EF3-8227-4E409E515265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2B86A4CD-9DD7-A759-936E-467EAE5EB5C9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9F650A23-1238-CC13-42C8-808A518F0182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D7F9322A-5736-73EB-4C05-25746B3479C7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E025BFE4-A916-6C6A-CB00-A005B21CFF7F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E99F9A08-020C-B76E-3CB6-975D9B5CE4AB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90918A91-95F3-92A8-F23A-3CE964102ED2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02ACECE7-99E5-9541-5FD0-DACCF34E2410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B0FE08F1-11E5-F807-42C9-7CC10DD3ACEF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C2B3280B-C8CE-B3FB-B71C-8A2588C4C26F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97836E59-6896-A698-B5EE-7BFCF2ADD258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0F7F9585-9CC8-2AD1-0135-557ECCE94323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A5DAF3B9-ED6F-39FB-EEB0-9DE15DBC7086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5DE40C7B-43A2-9E1E-2846-9EF73100D126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9AD77568-AB03-814D-C65E-935A6A8B6E72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129BB763-0B9A-16C6-7EAA-24A432DDB29E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BDB69194-777E-1531-B12E-8A21B94FE121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5F97C43E-6C58-AA63-176F-032CDF4D5236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C05414D1-7A72-339D-3B86-32EA7D46CC0E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DDF8342A-6808-0A0D-2953-17F3DB2B9BAB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7615E3EB-EC65-56F1-762B-2D73DEB351C5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B41A8B1-8C1C-0A72-A1FD-90AD4716D86C}"/>
              </a:ext>
            </a:extLst>
          </p:cNvPr>
          <p:cNvSpPr/>
          <p:nvPr/>
        </p:nvSpPr>
        <p:spPr>
          <a:xfrm>
            <a:off x="1" y="-572"/>
            <a:ext cx="12191999" cy="58477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endParaRPr lang="ko-KR" altLang="en-US" sz="32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29BFD-8722-CFF5-78FA-E8CA98D7FE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AE201-B92C-F987-E906-E062AB7F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9</a:t>
            </a:fld>
            <a:endParaRPr lang="en-IN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DCB58C0-8292-0FA1-5D34-0F7B6DE73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899" y="2809499"/>
            <a:ext cx="101587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17795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2619</TotalTime>
  <Words>590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ARNAV PADOLE</cp:lastModifiedBy>
  <cp:revision>119</cp:revision>
  <dcterms:created xsi:type="dcterms:W3CDTF">2024-06-03T04:50:38Z</dcterms:created>
  <dcterms:modified xsi:type="dcterms:W3CDTF">2025-10-30T15:56:08Z</dcterms:modified>
</cp:coreProperties>
</file>